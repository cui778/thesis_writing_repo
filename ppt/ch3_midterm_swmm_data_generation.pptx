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a7599472444f8" /><Relationship Type="http://schemas.openxmlformats.org/officeDocument/2006/relationships/extended-properties" Target="/docProps/app.xml" Id="R4bbe3837c6e94759" /><Relationship Type="http://schemas.openxmlformats.org/officeDocument/2006/relationships/officeDocument" Target="/ppt/presentation.xml" Id="Rdfe54c7243e0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d26f6847254d23"/>
  </p:sldMasterIdLst>
  <p:notesMasterIdLst>
    <p:notesMasterId xmlns:r="http://schemas.openxmlformats.org/officeDocument/2006/relationships" r:id="R29bfcfb53c884f87"/>
  </p:notesMasterIdLst>
  <p:sldIdLst>
    <p:sldId xmlns:r="http://schemas.openxmlformats.org/officeDocument/2006/relationships" id="256" r:id="R00450f4654d84df5"/>
    <p:sldId xmlns:r="http://schemas.openxmlformats.org/officeDocument/2006/relationships" id="257" r:id="Ra3e785fd4cc44355"/>
    <p:sldId xmlns:r="http://schemas.openxmlformats.org/officeDocument/2006/relationships" id="258" r:id="Rfcd76d2c1fdd4efc"/>
    <p:sldId xmlns:r="http://schemas.openxmlformats.org/officeDocument/2006/relationships" id="259" r:id="R69c9830372474d82"/>
    <p:sldId xmlns:r="http://schemas.openxmlformats.org/officeDocument/2006/relationships" id="260" r:id="R3ebd2a3c97f54a01"/>
    <p:sldId xmlns:r="http://schemas.openxmlformats.org/officeDocument/2006/relationships" id="261" r:id="R2e81b589150c470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26f6847254d23" /><Relationship Type="http://schemas.openxmlformats.org/officeDocument/2006/relationships/theme" Target="/ppt/theme/theme1.xml" Id="Rbdd86ed35ef640f9" /><Relationship Type="http://schemas.openxmlformats.org/officeDocument/2006/relationships/notesMaster" Target="/ppt/notesMasters/notesMaster1.xml" Id="R29bfcfb53c884f87" /><Relationship Type="http://schemas.openxmlformats.org/officeDocument/2006/relationships/presProps" Target="/ppt/presProps.xml" Id="R19d40e9378db42d3" /><Relationship Type="http://schemas.openxmlformats.org/officeDocument/2006/relationships/viewProps" Target="/ppt/viewProps.xml" Id="R7757892620ef4060" /><Relationship Type="http://schemas.openxmlformats.org/officeDocument/2006/relationships/tableStyles" Target="/ppt/tableStyles.xml" Id="Rceba0a8b3cd14cd6" /><Relationship Type="http://schemas.openxmlformats.org/officeDocument/2006/relationships/slide" Target="/ppt/slides/slide1.xml" Id="R00450f4654d84df5" /><Relationship Type="http://schemas.openxmlformats.org/officeDocument/2006/relationships/slide" Target="/ppt/slides/slide2.xml" Id="Ra3e785fd4cc44355" /><Relationship Type="http://schemas.openxmlformats.org/officeDocument/2006/relationships/slide" Target="/ppt/slides/slide3.xml" Id="Rfcd76d2c1fdd4efc" /><Relationship Type="http://schemas.openxmlformats.org/officeDocument/2006/relationships/slide" Target="/ppt/slides/slide4.xml" Id="R69c9830372474d82" /><Relationship Type="http://schemas.openxmlformats.org/officeDocument/2006/relationships/slide" Target="/ppt/slides/slide5.xml" Id="R3ebd2a3c97f54a01" /><Relationship Type="http://schemas.openxmlformats.org/officeDocument/2006/relationships/slide" Target="/ppt/slides/slide6.xml" Id="R2e81b589150c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6bb5e5c849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ddccd756f345b5" /><Relationship Type="http://schemas.openxmlformats.org/officeDocument/2006/relationships/notesMaster" Target="/ppt/notesMasters/notesMaster1.xml" Id="Rdf4f346ab0f6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5ebe7b5af349e8" /><Relationship Type="http://schemas.openxmlformats.org/officeDocument/2006/relationships/notesMaster" Target="/ppt/notesMasters/notesMaster1.xml" Id="Rff66f47648124e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1cd8680924d7c" /><Relationship Type="http://schemas.openxmlformats.org/officeDocument/2006/relationships/notesMaster" Target="/ppt/notesMasters/notesMaster1.xml" Id="Rb9bf7b13cae147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6c79aa6104e18" /><Relationship Type="http://schemas.openxmlformats.org/officeDocument/2006/relationships/notesMaster" Target="/ppt/notesMasters/notesMaster1.xml" Id="Re0fcb68f3134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7aaf4e99c745c3" /><Relationship Type="http://schemas.openxmlformats.org/officeDocument/2006/relationships/notesMaster" Target="/ppt/notesMasters/notesMaster1.xml" Id="Rcad07a6a99cd40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f32e59c47240b5" /><Relationship Type="http://schemas.openxmlformats.org/officeDocument/2006/relationships/notesMaster" Target="/ppt/notesMasters/notesMaster1.xml" Id="Ra6790e101d5846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5aed6132344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1c0073b2bb44ce4" /><Relationship Type="http://schemas.openxmlformats.org/officeDocument/2006/relationships/slideLayout" Target="/ppt/slideLayouts/slideLayout2.xml" Id="R0dac7b0fae9f40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ac7b0fae9f40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801911f54a43ae" /><Relationship Type="http://schemas.openxmlformats.org/officeDocument/2006/relationships/notesSlide" Target="/ppt/notesSlides/notesSlide1.xml" Id="R4147c46affde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b643b541b4dff" /><Relationship Type="http://schemas.openxmlformats.org/officeDocument/2006/relationships/image" Target="/ppt/media/image.png" Id="Re61443aaa4da4e9b" /><Relationship Type="http://schemas.openxmlformats.org/officeDocument/2006/relationships/notesSlide" Target="/ppt/notesSlides/notesSlide2.xml" Id="R3a2f9c8760da44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06ec7b75b34f89" /><Relationship Type="http://schemas.openxmlformats.org/officeDocument/2006/relationships/notesSlide" Target="/ppt/notesSlides/notesSlide3.xml" Id="R3ec7f4b564cc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2d82eb5b104a9c" /><Relationship Type="http://schemas.openxmlformats.org/officeDocument/2006/relationships/image" Target="/ppt/media/image2.png" Id="Ra2c6431fe5664789" /><Relationship Type="http://schemas.openxmlformats.org/officeDocument/2006/relationships/notesSlide" Target="/ppt/notesSlides/notesSlide4.xml" Id="Ra5183e85e3d2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2501a87cd4b89" /><Relationship Type="http://schemas.openxmlformats.org/officeDocument/2006/relationships/image" Target="/ppt/media/image3.png" Id="R47a549627820430e" /><Relationship Type="http://schemas.openxmlformats.org/officeDocument/2006/relationships/notesSlide" Target="/ppt/notesSlides/notesSlide5.xml" Id="Ra569e38b2d8247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ba7c6467b4259" /><Relationship Type="http://schemas.openxmlformats.org/officeDocument/2006/relationships/image" Target="/ppt/media/image4.png" Id="Rba57a14980cb4846" /><Relationship Type="http://schemas.openxmlformats.org/officeDocument/2006/relationships/image" Target="/ppt/media/image5.png" Id="R5a5ab6bfc17547a7" /><Relationship Type="http://schemas.openxmlformats.org/officeDocument/2006/relationships/image" Target="/ppt/media/image6.png" Id="Rf2c2e3fed0df4daa" /><Relationship Type="http://schemas.openxmlformats.org/officeDocument/2006/relationships/notesSlide" Target="/ppt/notesSlides/notesSlide6.xml" Id="R89bb66ba62864c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D495ABC-9B00-4C07-B2CA-874A30BE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BB85C-BC8E-4BFC-BA58-73EC926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026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第三部分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70B9A-2980-4EDB-AB5A-A59CC9E4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58293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基于 SWMM 的 I/E 缺陷多场景数据生成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10449-5D18-4A4A-AB24-69389DE0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7467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67085"/>
                </a:solidFill>
              </a:defRPr>
            </a:pPr>
            <a:r>
              <a:rPr sz="2100">
                <a:solidFill>
                  <a:srgbClr val="667085"/>
                </a:solidFill>
              </a:rPr>
              <a:t>从工程资料与 SWMM 基线模型出发，批量生成可用于缺陷诊断的全网节点时序数据。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67393-33E9-442F-BDED-075410ED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246BFE"/>
            </a:solidFill>
            <a:prstDash val="solid"/>
          </a:ln>
        </p:spPr>
      </p:sp>
      <p:sp>
        <p:nvSpPr>
          <p:cNvPr id="6" name="metric-num-全网节点">
            <a:extLst xmlns:a="http://schemas.openxmlformats.org/drawingml/2006/main">
              <a:ext uri="{FF2B5EF4-FFF2-40B4-BE49-F238E27FC236}">
                <a16:creationId xmlns:a16="http://schemas.microsoft.com/office/drawing/2014/main" id="{FA2C075E-83D2-4AEF-9986-CA694B61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09600"/>
            <a:ext cx="29146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46BFE"/>
                </a:solidFill>
              </a:defRPr>
            </a:pPr>
            <a:r>
              <a:rPr sz="4800" b="1">
                <a:solidFill>
                  <a:srgbClr val="246BFE"/>
                </a:solidFill>
              </a:rPr>
              <a:t>128</a:t>
            </a:r>
          </a:p>
        </p:txBody>
      </p:sp>
      <p:sp>
        <p:nvSpPr>
          <p:cNvPr id="7" name="metric-label-全网节点">
            <a:extLst xmlns:a="http://schemas.openxmlformats.org/drawingml/2006/main">
              <a:ext uri="{FF2B5EF4-FFF2-40B4-BE49-F238E27FC236}">
                <a16:creationId xmlns:a16="http://schemas.microsoft.com/office/drawing/2014/main" id="{4B290DBD-DED7-4967-9770-FC048079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409700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全网节点</a:t>
            </a:r>
          </a:p>
        </p:txBody>
      </p:sp>
      <p:sp>
        <p:nvSpPr>
          <p:cNvPr id="8" name="metric-num-候选缺陷节点">
            <a:extLst xmlns:a="http://schemas.openxmlformats.org/drawingml/2006/main">
              <a:ext uri="{FF2B5EF4-FFF2-40B4-BE49-F238E27FC236}">
                <a16:creationId xmlns:a16="http://schemas.microsoft.com/office/drawing/2014/main" id="{E2E1FCD4-4B59-43FA-8908-CA00AEFA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09600"/>
            <a:ext cx="29146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A36A"/>
                </a:solidFill>
              </a:defRPr>
            </a:pPr>
            <a:r>
              <a:rPr sz="4800" b="1">
                <a:solidFill>
                  <a:srgbClr val="16A36A"/>
                </a:solidFill>
              </a:rPr>
              <a:t>50</a:t>
            </a:r>
          </a:p>
        </p:txBody>
      </p:sp>
      <p:sp>
        <p:nvSpPr>
          <p:cNvPr id="9" name="metric-label-候选缺陷节点">
            <a:extLst xmlns:a="http://schemas.openxmlformats.org/drawingml/2006/main">
              <a:ext uri="{FF2B5EF4-FFF2-40B4-BE49-F238E27FC236}">
                <a16:creationId xmlns:a16="http://schemas.microsoft.com/office/drawing/2014/main" id="{896B68B6-EE39-4A4D-BD0C-88DCAAEC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409700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候选缺陷节点</a:t>
            </a:r>
          </a:p>
        </p:txBody>
      </p:sp>
      <p:sp>
        <p:nvSpPr>
          <p:cNvPr id="10" name="metric-num-固定监测节点">
            <a:extLst xmlns:a="http://schemas.openxmlformats.org/drawingml/2006/main">
              <a:ext uri="{FF2B5EF4-FFF2-40B4-BE49-F238E27FC236}">
                <a16:creationId xmlns:a16="http://schemas.microsoft.com/office/drawing/2014/main" id="{F6556E9E-DF4C-4281-905B-FF5F8717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76600"/>
            <a:ext cx="29146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A7C8"/>
                </a:solidFill>
              </a:defRPr>
            </a:pPr>
            <a:r>
              <a:rPr sz="4800" b="1">
                <a:solidFill>
                  <a:srgbClr val="00A7C8"/>
                </a:solidFill>
              </a:rPr>
              <a:t>25</a:t>
            </a:r>
          </a:p>
        </p:txBody>
      </p:sp>
      <p:sp>
        <p:nvSpPr>
          <p:cNvPr id="11" name="metric-label-固定监测节点">
            <a:extLst xmlns:a="http://schemas.openxmlformats.org/drawingml/2006/main">
              <a:ext uri="{FF2B5EF4-FFF2-40B4-BE49-F238E27FC236}">
                <a16:creationId xmlns:a16="http://schemas.microsoft.com/office/drawing/2014/main" id="{9B8AAB95-1E44-44C7-9DAC-1675ACAA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076700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固定监测节点</a:t>
            </a:r>
          </a:p>
        </p:txBody>
      </p:sp>
      <p:sp>
        <p:nvSpPr>
          <p:cNvPr id="12" name="metric-num-仿真场景">
            <a:extLst xmlns:a="http://schemas.openxmlformats.org/drawingml/2006/main">
              <a:ext uri="{FF2B5EF4-FFF2-40B4-BE49-F238E27FC236}">
                <a16:creationId xmlns:a16="http://schemas.microsoft.com/office/drawing/2014/main" id="{B38C1DFA-817F-4F74-B52F-FABE5F2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276600"/>
            <a:ext cx="29146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9E0B"/>
                </a:solidFill>
              </a:defRPr>
            </a:pPr>
            <a:r>
              <a:rPr sz="4800" b="1">
                <a:solidFill>
                  <a:srgbClr val="F59E0B"/>
                </a:solidFill>
              </a:rPr>
              <a:t>421</a:t>
            </a:r>
          </a:p>
        </p:txBody>
      </p:sp>
      <p:sp>
        <p:nvSpPr>
          <p:cNvPr id="13" name="metric-label-仿真场景">
            <a:extLst xmlns:a="http://schemas.openxmlformats.org/drawingml/2006/main">
              <a:ext uri="{FF2B5EF4-FFF2-40B4-BE49-F238E27FC236}">
                <a16:creationId xmlns:a16="http://schemas.microsoft.com/office/drawing/2014/main" id="{A58417EA-9F49-4117-A15C-AAAAD6A3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076700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仿真场景</a:t>
            </a:r>
          </a:p>
        </p:txBody>
      </p:sp>
    </p:spTree>
    <p:extLst>
      <p:ext uri="{BB962C8B-B14F-4D97-AF65-F5344CB8AC3E}">
        <p14:creationId xmlns:p14="http://schemas.microsoft.com/office/powerpoint/2010/main" val="2710680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399CBA1-1D2B-4F6A-9E74-8E738866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9EC928D-5573-4A38-90F5-F529F576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BFE"/>
                </a:solidFill>
              </a:defRPr>
            </a:pPr>
            <a:r>
              <a:rPr sz="1650" b="1">
                <a:solidFill>
                  <a:srgbClr val="246BFE"/>
                </a:solidFill>
              </a:rPr>
              <a:t>第三部分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BD6F9D-1F43-4AD2-8218-F39FDDD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16649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研究子区与建模资料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CA8CDA04-7992-495B-96AD-C52FF97E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43CF83C-0B0A-44BF-B052-37ED4027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研究对象来自黄孝河-机场河流域水环境综合治理工程资料。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6B57618A-CE8D-4F90-9479-520D0E9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DB2522B-47D3-4013-AED1-54CD008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691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依据排水分区、泵站服务范围、主干管连通关系和边界条件划定研究子区。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DA285B09-BA3D-4D11-9D1F-6B777064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E3051BF-0CD4-48A8-97C2-462163B0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691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资料包括管网、泵站、闸门、调蓄池、河道、污水处理厂、降雨与调度运行资料。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ECCF024D-80CC-4EE5-A76E-6E63DD9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FF787425-51AB-47AE-B300-523271DA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现场水位、流量及 NH4、TSSs 等指标用于正常工况合理性检查。</a:t>
            </a:r>
          </a:p>
        </p:txBody>
      </p:sp>
      <p:sp>
        <p:nvSpPr>
          <p:cNvPr id="12" name="note">
            <a:extLst xmlns:a="http://schemas.openxmlformats.org/drawingml/2006/main">
              <a:ext uri="{FF2B5EF4-FFF2-40B4-BE49-F238E27FC236}">
                <a16:creationId xmlns:a16="http://schemas.microsoft.com/office/drawing/2014/main" id="{70645339-DA7D-4197-A933-2733552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PPT 讲述建议：区域背景快速带过，重点落在“研究子区可独立仿真”。</a:t>
            </a:r>
          </a:p>
        </p:txBody>
      </p:sp>
      <p:pic>
        <p:nvPicPr>
          <p:cNvPr id="13" name="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443aaa4da4e9b"/>
          <a:stretch xmlns:a="http://schemas.openxmlformats.org/drawingml/2006/main"/>
        </p:blipFill>
        <p:spPr>
          <a:xfrm xmlns:a="http://schemas.openxmlformats.org/drawingml/2006/main">
            <a:off x="8477250" y="2109445"/>
            <a:ext cx="8991600" cy="6696760"/>
          </a:xfrm>
          <a:prstGeom xmlns:a="http://schemas.openxmlformats.org/drawingml/2006/main" prst="rect">
            <a:avLst/>
          </a:prstGeom>
        </p:spPr>
      </p:pic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ED88FEF0-F6A1-422F-8918-F036F5E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24950"/>
            <a:ext cx="899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已有图：全网节点、候选缺陷节点与监测节点关系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235A8-6CF6-4AF5-B21B-274BE445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486900"/>
            <a:ext cx="899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04F5F"/>
                </a:solidFill>
              </a:defRPr>
            </a:pPr>
            <a:r>
              <a:rPr sz="1275">
                <a:solidFill>
                  <a:srgbClr val="E04F5F"/>
                </a:solidFill>
              </a:rPr>
              <a:t>可替换：更适合答辩的黄孝河-机场河研究子区边界图。</a:t>
            </a:r>
          </a:p>
        </p:txBody>
      </p:sp>
    </p:spTree>
    <p:extLst>
      <p:ext uri="{BB962C8B-B14F-4D97-AF65-F5344CB8AC3E}">
        <p14:creationId xmlns:p14="http://schemas.microsoft.com/office/powerpoint/2010/main" val="15496104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3A45793-DB8C-4716-825D-9257F50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B41F22E-F4DC-4C48-ABDB-036CB6C1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BFE"/>
                </a:solidFill>
              </a:defRPr>
            </a:pPr>
            <a:r>
              <a:rPr sz="1650" b="1">
                <a:solidFill>
                  <a:srgbClr val="246BFE"/>
                </a:solidFill>
              </a:rPr>
              <a:t>第三部分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0E0D0-7747-47C0-98CF-5B38BD9D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16649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SWMM 基线模型构建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A8E1B-C5FC-4B58-A18C-320CE579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357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69968-B496-4240-A523-CBA9F888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资料整理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1ED3-7FD9-49CD-A299-686D5EB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9357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157B-3DEE-4A64-B1CD-BC2CDB3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621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数据清理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B78E9-B4E7-467C-A1D2-04E34E7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9357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FFAE7-9805-4643-B875-EB7F9BD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子区划分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AAC41-AC8C-4F30-9389-7332DED7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9357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1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803C8-43D6-4610-9E98-7F436FC5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FE"/>
                </a:solidFill>
              </a:defRPr>
            </a:pPr>
            <a:r>
              <a:rPr sz="1350" b="1">
                <a:solidFill>
                  <a:srgbClr val="246BFE"/>
                </a:solidFill>
              </a:rPr>
              <a:t>DWF注入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34B5E-A0A0-4775-812E-3A33F954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9357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E7BBC-B277-43C6-9149-ACF2BCAE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结构修复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FCC8B-9CBC-45E8-AF07-FE068F4A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9357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1DB84-419A-4643-9141-8C1BA956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边界设置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3CB36-6C2A-4D07-82E7-5606D68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93570"/>
            <a:ext cx="114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4F6E2-68FD-418D-AE85-4865F5D1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正常工况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40912-6B72-4CB2-86C0-0B94BD3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85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模型目标：可独立运行、可批量注入缺陷、可输出节点级水力与水质响应。</a:t>
            </a:r>
          </a:p>
        </p:txBody>
      </p:sp>
      <p:sp>
        <p:nvSpPr>
          <p:cNvPr id="19" name="td-0-0">
            <a:extLst xmlns:a="http://schemas.openxmlformats.org/drawingml/2006/main">
              <a:ext uri="{FF2B5EF4-FFF2-40B4-BE49-F238E27FC236}">
                <a16:creationId xmlns:a16="http://schemas.microsoft.com/office/drawing/2014/main" id="{1215CC51-5868-4665-AF36-0683CFF9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对象</a:t>
            </a:r>
          </a:p>
        </p:txBody>
      </p:sp>
      <p:sp>
        <p:nvSpPr>
          <p:cNvPr id="20" name="td-0-1">
            <a:extLst xmlns:a="http://schemas.openxmlformats.org/drawingml/2006/main">
              <a:ext uri="{FF2B5EF4-FFF2-40B4-BE49-F238E27FC236}">
                <a16:creationId xmlns:a16="http://schemas.microsoft.com/office/drawing/2014/main" id="{FE9A83B4-D285-416F-A594-5D1BF85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48050"/>
            <a:ext cx="1047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数量</a:t>
            </a:r>
          </a:p>
        </p:txBody>
      </p:sp>
      <p:sp>
        <p:nvSpPr>
          <p:cNvPr id="21" name="td-0-2">
            <a:extLst xmlns:a="http://schemas.openxmlformats.org/drawingml/2006/main">
              <a:ext uri="{FF2B5EF4-FFF2-40B4-BE49-F238E27FC236}">
                <a16:creationId xmlns:a16="http://schemas.microsoft.com/office/drawing/2014/main" id="{34104DC1-6CE7-4500-8E21-C8A0489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48050"/>
            <a:ext cx="4095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说明</a:t>
            </a:r>
          </a:p>
        </p:txBody>
      </p:sp>
      <p:sp>
        <p:nvSpPr>
          <p:cNvPr id="22" name="td-1-0">
            <a:extLst xmlns:a="http://schemas.openxmlformats.org/drawingml/2006/main">
              <a:ext uri="{FF2B5EF4-FFF2-40B4-BE49-F238E27FC236}">
                <a16:creationId xmlns:a16="http://schemas.microsoft.com/office/drawing/2014/main" id="{4AFF5BCD-C1C6-47D1-87B9-D16D47D1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全网节点</a:t>
            </a:r>
          </a:p>
        </p:txBody>
      </p:sp>
      <p:sp>
        <p:nvSpPr>
          <p:cNvPr id="23" name="td-1-1">
            <a:extLst xmlns:a="http://schemas.openxmlformats.org/drawingml/2006/main">
              <a:ext uri="{FF2B5EF4-FFF2-40B4-BE49-F238E27FC236}">
                <a16:creationId xmlns:a16="http://schemas.microsoft.com/office/drawing/2014/main" id="{1073FAA1-8143-4294-BD96-58EFBA1C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128</a:t>
            </a:r>
          </a:p>
        </p:txBody>
      </p:sp>
      <p:sp>
        <p:nvSpPr>
          <p:cNvPr id="24" name="td-1-2">
            <a:extLst xmlns:a="http://schemas.openxmlformats.org/drawingml/2006/main">
              <a:ext uri="{FF2B5EF4-FFF2-40B4-BE49-F238E27FC236}">
                <a16:creationId xmlns:a16="http://schemas.microsoft.com/office/drawing/2014/main" id="{94FBE2D7-952B-4D30-B392-20001FD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862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图结构表达与仿真输出范围</a:t>
            </a:r>
          </a:p>
        </p:txBody>
      </p:sp>
      <p:sp>
        <p:nvSpPr>
          <p:cNvPr id="25" name="td-2-0">
            <a:extLst xmlns:a="http://schemas.openxmlformats.org/drawingml/2006/main">
              <a:ext uri="{FF2B5EF4-FFF2-40B4-BE49-F238E27FC236}">
                <a16:creationId xmlns:a16="http://schemas.microsoft.com/office/drawing/2014/main" id="{328414FF-6E33-4B67-B2CB-A8E07E5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Junction</a:t>
            </a:r>
          </a:p>
        </p:txBody>
      </p:sp>
      <p:sp>
        <p:nvSpPr>
          <p:cNvPr id="26" name="td-2-1">
            <a:extLst xmlns:a="http://schemas.openxmlformats.org/drawingml/2006/main">
              <a:ext uri="{FF2B5EF4-FFF2-40B4-BE49-F238E27FC236}">
                <a16:creationId xmlns:a16="http://schemas.microsoft.com/office/drawing/2014/main" id="{1218BC75-3A25-4FE7-A6A0-FC8FD83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8625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113</a:t>
            </a:r>
          </a:p>
        </p:txBody>
      </p:sp>
      <p:sp>
        <p:nvSpPr>
          <p:cNvPr id="27" name="td-2-2">
            <a:extLst xmlns:a="http://schemas.openxmlformats.org/drawingml/2006/main">
              <a:ext uri="{FF2B5EF4-FFF2-40B4-BE49-F238E27FC236}">
                <a16:creationId xmlns:a16="http://schemas.microsoft.com/office/drawing/2014/main" id="{80D4DEF0-6B59-416A-A597-6916F2FD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862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普通连接节点</a:t>
            </a:r>
          </a:p>
        </p:txBody>
      </p:sp>
      <p:sp>
        <p:nvSpPr>
          <p:cNvPr id="28" name="td-3-0">
            <a:extLst xmlns:a="http://schemas.openxmlformats.org/drawingml/2006/main">
              <a:ext uri="{FF2B5EF4-FFF2-40B4-BE49-F238E27FC236}">
                <a16:creationId xmlns:a16="http://schemas.microsoft.com/office/drawing/2014/main" id="{83A5F601-0DF8-49C0-9D8B-E6BE31C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Outfall</a:t>
            </a:r>
          </a:p>
        </p:txBody>
      </p:sp>
      <p:sp>
        <p:nvSpPr>
          <p:cNvPr id="29" name="td-3-1">
            <a:extLst xmlns:a="http://schemas.openxmlformats.org/drawingml/2006/main">
              <a:ext uri="{FF2B5EF4-FFF2-40B4-BE49-F238E27FC236}">
                <a16:creationId xmlns:a16="http://schemas.microsoft.com/office/drawing/2014/main" id="{B83E1BE6-AE61-44D7-8633-85230D27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30" name="td-3-2">
            <a:extLst xmlns:a="http://schemas.openxmlformats.org/drawingml/2006/main">
              <a:ext uri="{FF2B5EF4-FFF2-40B4-BE49-F238E27FC236}">
                <a16:creationId xmlns:a16="http://schemas.microsoft.com/office/drawing/2014/main" id="{31790079-B21C-4C14-B550-EDFABD31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出流边界节点</a:t>
            </a:r>
          </a:p>
        </p:txBody>
      </p:sp>
      <p:sp>
        <p:nvSpPr>
          <p:cNvPr id="31" name="td-4-0">
            <a:extLst xmlns:a="http://schemas.openxmlformats.org/drawingml/2006/main">
              <a:ext uri="{FF2B5EF4-FFF2-40B4-BE49-F238E27FC236}">
                <a16:creationId xmlns:a16="http://schemas.microsoft.com/office/drawing/2014/main" id="{BD914189-7EDA-43B6-869A-C8B887C4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Storage</a:t>
            </a:r>
          </a:p>
        </p:txBody>
      </p:sp>
      <p:sp>
        <p:nvSpPr>
          <p:cNvPr id="32" name="td-4-1">
            <a:extLst xmlns:a="http://schemas.openxmlformats.org/drawingml/2006/main">
              <a:ext uri="{FF2B5EF4-FFF2-40B4-BE49-F238E27FC236}">
                <a16:creationId xmlns:a16="http://schemas.microsoft.com/office/drawing/2014/main" id="{7DAB5144-9D05-40A5-978E-963CC9AF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8635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13</a:t>
            </a:r>
          </a:p>
        </p:txBody>
      </p:sp>
      <p:sp>
        <p:nvSpPr>
          <p:cNvPr id="33" name="td-4-2">
            <a:extLst xmlns:a="http://schemas.openxmlformats.org/drawingml/2006/main">
              <a:ext uri="{FF2B5EF4-FFF2-40B4-BE49-F238E27FC236}">
                <a16:creationId xmlns:a16="http://schemas.microsoft.com/office/drawing/2014/main" id="{14572757-7B57-468D-B64F-9EF08EC2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863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蓄水或调蓄单元</a:t>
            </a:r>
          </a:p>
        </p:txBody>
      </p:sp>
      <p:sp>
        <p:nvSpPr>
          <p:cNvPr id="34" name="td-5-0">
            <a:extLst xmlns:a="http://schemas.openxmlformats.org/drawingml/2006/main">
              <a:ext uri="{FF2B5EF4-FFF2-40B4-BE49-F238E27FC236}">
                <a16:creationId xmlns:a16="http://schemas.microsoft.com/office/drawing/2014/main" id="{2F76C81A-825D-40B8-8618-4002460A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Conduit</a:t>
            </a:r>
          </a:p>
        </p:txBody>
      </p:sp>
      <p:sp>
        <p:nvSpPr>
          <p:cNvPr id="35" name="td-5-1">
            <a:extLst xmlns:a="http://schemas.openxmlformats.org/drawingml/2006/main">
              <a:ext uri="{FF2B5EF4-FFF2-40B4-BE49-F238E27FC236}">
                <a16:creationId xmlns:a16="http://schemas.microsoft.com/office/drawing/2014/main" id="{F0BF45EA-FDFA-41E4-9517-2A7E0955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864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137</a:t>
            </a:r>
          </a:p>
        </p:txBody>
      </p:sp>
      <p:sp>
        <p:nvSpPr>
          <p:cNvPr id="36" name="td-5-2">
            <a:extLst xmlns:a="http://schemas.openxmlformats.org/drawingml/2006/main">
              <a:ext uri="{FF2B5EF4-FFF2-40B4-BE49-F238E27FC236}">
                <a16:creationId xmlns:a16="http://schemas.microsoft.com/office/drawing/2014/main" id="{009D338F-22C7-480E-89F0-9F8EA899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864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管段数量</a:t>
            </a:r>
          </a:p>
        </p:txBody>
      </p:sp>
      <p:sp>
        <p:nvSpPr>
          <p:cNvPr id="37" name="note">
            <a:extLst xmlns:a="http://schemas.openxmlformats.org/drawingml/2006/main">
              <a:ext uri="{FF2B5EF4-FFF2-40B4-BE49-F238E27FC236}">
                <a16:creationId xmlns:a16="http://schemas.microsoft.com/office/drawing/2014/main" id="{76EC6942-1FE8-49F8-B274-7CA2B28C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885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水力输出：depth、head、volume、lateral_inflow、total_inflow、total_outflow、flooding。</a:t>
            </a:r>
          </a:p>
        </p:txBody>
      </p:sp>
      <p:sp>
        <p:nvSpPr>
          <p:cNvPr id="38" name="placeholder">
            <a:extLst xmlns:a="http://schemas.openxmlformats.org/drawingml/2006/main">
              <a:ext uri="{FF2B5EF4-FFF2-40B4-BE49-F238E27FC236}">
                <a16:creationId xmlns:a16="http://schemas.microsoft.com/office/drawing/2014/main" id="{4DB9A290-9A6C-48E3-8EA3-64449AEF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93570"/>
            <a:ext cx="7391400" cy="7783830"/>
          </a:xfrm>
          <a:prstGeom xmlns:a="http://schemas.openxmlformats.org/drawingml/2006/main" prst="roundRect">
            <a:avLst>
              <a:gd name="adj" fmla="val 1289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E389F3-DAA2-48AD-9400-F76FAABD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52650"/>
            <a:ext cx="685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BFE"/>
                </a:solidFill>
              </a:defRPr>
            </a:pPr>
            <a:r>
              <a:rPr sz="2250" b="1">
                <a:solidFill>
                  <a:srgbClr val="246BFE"/>
                </a:solidFill>
              </a:rPr>
              <a:t>图件占位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4A238A-8902-4350-B371-94CB76B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67000"/>
            <a:ext cx="685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</a:defRPr>
            </a:pPr>
            <a:r>
              <a:rPr sz="1800">
                <a:solidFill>
                  <a:srgbClr val="172033"/>
                </a:solidFill>
              </a:rPr>
              <a:t>建议补图：SWMM GUI 中研究子区模型截图，或 DWF / TIMESERIES 设置界面截图。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BAF8B1-46D0-42E5-8BD9-483FB64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909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085"/>
                </a:solidFill>
              </a:defRPr>
            </a:pPr>
            <a:r>
              <a:rPr sz="1425">
                <a:solidFill>
                  <a:srgbClr val="667085"/>
                </a:solidFill>
              </a:rPr>
              <a:t>建议：使用 SWMM GUI 截图、研究区边界图或管网拓扑图替换。</a:t>
            </a:r>
          </a:p>
        </p:txBody>
      </p:sp>
    </p:spTree>
    <p:extLst>
      <p:ext uri="{BB962C8B-B14F-4D97-AF65-F5344CB8AC3E}">
        <p14:creationId xmlns:p14="http://schemas.microsoft.com/office/powerpoint/2010/main" val="19553506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533998D-65EB-43E2-A670-8AC7C7B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DABFF8F-3286-40BC-84D9-C525DF28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BFE"/>
                </a:solidFill>
              </a:defRPr>
            </a:pPr>
            <a:r>
              <a:rPr sz="1650" b="1">
                <a:solidFill>
                  <a:srgbClr val="246BFE"/>
                </a:solidFill>
              </a:rPr>
              <a:t>第三部分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39DDDD-F520-49B4-AF16-C54E6984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16649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I/E 缺陷场景矩阵设计</a:t>
            </a:r>
          </a:p>
        </p:txBody>
      </p:sp>
      <p:sp>
        <p:nvSpPr>
          <p:cNvPr id="4" name="td-0-0">
            <a:extLst xmlns:a="http://schemas.openxmlformats.org/drawingml/2006/main">
              <a:ext uri="{FF2B5EF4-FFF2-40B4-BE49-F238E27FC236}">
                <a16:creationId xmlns:a16="http://schemas.microsoft.com/office/drawing/2014/main" id="{06345F17-A4A4-4427-BE82-FADF0B1B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809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场景类型</a:t>
            </a:r>
          </a:p>
        </p:txBody>
      </p:sp>
      <p:sp>
        <p:nvSpPr>
          <p:cNvPr id="5" name="td-0-1">
            <a:extLst xmlns:a="http://schemas.openxmlformats.org/drawingml/2006/main">
              <a:ext uri="{FF2B5EF4-FFF2-40B4-BE49-F238E27FC236}">
                <a16:creationId xmlns:a16="http://schemas.microsoft.com/office/drawing/2014/main" id="{B694EC6B-BB93-4403-B35D-750B6EE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859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数量</a:t>
            </a:r>
          </a:p>
        </p:txBody>
      </p:sp>
      <p:sp>
        <p:nvSpPr>
          <p:cNvPr id="6" name="td-0-2">
            <a:extLst xmlns:a="http://schemas.openxmlformats.org/drawingml/2006/main">
              <a:ext uri="{FF2B5EF4-FFF2-40B4-BE49-F238E27FC236}">
                <a16:creationId xmlns:a16="http://schemas.microsoft.com/office/drawing/2014/main" id="{ECC80F03-8E2A-47B8-AE53-C57BC50A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85950"/>
            <a:ext cx="3619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覆盖范围</a:t>
            </a:r>
          </a:p>
        </p:txBody>
      </p:sp>
      <p:sp>
        <p:nvSpPr>
          <p:cNvPr id="7" name="td-1-0">
            <a:extLst xmlns:a="http://schemas.openxmlformats.org/drawingml/2006/main">
              <a:ext uri="{FF2B5EF4-FFF2-40B4-BE49-F238E27FC236}">
                <a16:creationId xmlns:a16="http://schemas.microsoft.com/office/drawing/2014/main" id="{C52266DC-8E60-4076-97EB-A425745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正常工况</a:t>
            </a:r>
          </a:p>
        </p:txBody>
      </p:sp>
      <p:sp>
        <p:nvSpPr>
          <p:cNvPr id="8" name="td-1-1">
            <a:extLst xmlns:a="http://schemas.openxmlformats.org/drawingml/2006/main">
              <a:ext uri="{FF2B5EF4-FFF2-40B4-BE49-F238E27FC236}">
                <a16:creationId xmlns:a16="http://schemas.microsoft.com/office/drawing/2014/main" id="{2AACB3CB-A39F-4DF1-9B4A-C6975F7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24100"/>
            <a:ext cx="114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td-1-2">
            <a:extLst xmlns:a="http://schemas.openxmlformats.org/drawingml/2006/main">
              <a:ext uri="{FF2B5EF4-FFF2-40B4-BE49-F238E27FC236}">
                <a16:creationId xmlns:a16="http://schemas.microsoft.com/office/drawing/2014/main" id="{9F02AEAC-C884-4543-BA40-B2298A25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241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无缺陷参照</a:t>
            </a:r>
          </a:p>
        </p:txBody>
      </p:sp>
      <p:sp>
        <p:nvSpPr>
          <p:cNvPr id="10" name="td-2-0">
            <a:extLst xmlns:a="http://schemas.openxmlformats.org/drawingml/2006/main">
              <a:ext uri="{FF2B5EF4-FFF2-40B4-BE49-F238E27FC236}">
                <a16:creationId xmlns:a16="http://schemas.microsoft.com/office/drawing/2014/main" id="{0487263F-3E7E-4F79-B364-5A1F6DD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 类渗入</a:t>
            </a:r>
          </a:p>
        </p:txBody>
      </p:sp>
      <p:sp>
        <p:nvSpPr>
          <p:cNvPr id="11" name="td-2-1">
            <a:extLst xmlns:a="http://schemas.openxmlformats.org/drawingml/2006/main">
              <a:ext uri="{FF2B5EF4-FFF2-40B4-BE49-F238E27FC236}">
                <a16:creationId xmlns:a16="http://schemas.microsoft.com/office/drawing/2014/main" id="{633C3E00-3053-4088-83B5-CE5ED54F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14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250</a:t>
            </a:r>
          </a:p>
        </p:txBody>
      </p:sp>
      <p:sp>
        <p:nvSpPr>
          <p:cNvPr id="12" name="td-2-2">
            <a:extLst xmlns:a="http://schemas.openxmlformats.org/drawingml/2006/main">
              <a:ext uri="{FF2B5EF4-FFF2-40B4-BE49-F238E27FC236}">
                <a16:creationId xmlns:a16="http://schemas.microsoft.com/office/drawing/2014/main" id="{8ABFCD4C-837D-4A5A-91C8-D3E44F69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覆盖 50 个候选节点</a:t>
            </a:r>
          </a:p>
        </p:txBody>
      </p:sp>
      <p:sp>
        <p:nvSpPr>
          <p:cNvPr id="13" name="td-3-0">
            <a:extLst xmlns:a="http://schemas.openxmlformats.org/drawingml/2006/main">
              <a:ext uri="{FF2B5EF4-FFF2-40B4-BE49-F238E27FC236}">
                <a16:creationId xmlns:a16="http://schemas.microsoft.com/office/drawing/2014/main" id="{8A30E748-6398-4CB0-B86A-CAFB56DF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 类渗漏</a:t>
            </a:r>
          </a:p>
        </p:txBody>
      </p:sp>
      <p:sp>
        <p:nvSpPr>
          <p:cNvPr id="14" name="td-3-1">
            <a:extLst xmlns:a="http://schemas.openxmlformats.org/drawingml/2006/main">
              <a:ext uri="{FF2B5EF4-FFF2-40B4-BE49-F238E27FC236}">
                <a16:creationId xmlns:a16="http://schemas.microsoft.com/office/drawing/2014/main" id="{83D503D8-4385-4007-9512-172391E6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24200"/>
            <a:ext cx="114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170</a:t>
            </a:r>
          </a:p>
        </p:txBody>
      </p:sp>
      <p:sp>
        <p:nvSpPr>
          <p:cNvPr id="15" name="td-3-2">
            <a:extLst xmlns:a="http://schemas.openxmlformats.org/drawingml/2006/main">
              <a:ext uri="{FF2B5EF4-FFF2-40B4-BE49-F238E27FC236}">
                <a16:creationId xmlns:a16="http://schemas.microsoft.com/office/drawing/2014/main" id="{57A11FBE-2DF1-4AC4-89E8-7DB564D5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242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覆盖 34 个合法节点</a:t>
            </a:r>
          </a:p>
        </p:txBody>
      </p:sp>
      <p:sp>
        <p:nvSpPr>
          <p:cNvPr id="16" name="td-4-0">
            <a:extLst xmlns:a="http://schemas.openxmlformats.org/drawingml/2006/main">
              <a:ext uri="{FF2B5EF4-FFF2-40B4-BE49-F238E27FC236}">
                <a16:creationId xmlns:a16="http://schemas.microsoft.com/office/drawing/2014/main" id="{815AA1FC-C946-4B11-9F05-E5C01C4C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合计</a:t>
            </a:r>
          </a:p>
        </p:txBody>
      </p:sp>
      <p:sp>
        <p:nvSpPr>
          <p:cNvPr id="17" name="td-4-1">
            <a:extLst xmlns:a="http://schemas.openxmlformats.org/drawingml/2006/main">
              <a:ext uri="{FF2B5EF4-FFF2-40B4-BE49-F238E27FC236}">
                <a16:creationId xmlns:a16="http://schemas.microsoft.com/office/drawing/2014/main" id="{D1FAA288-09A7-4D30-9376-5035816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24250"/>
            <a:ext cx="114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421</a:t>
            </a:r>
          </a:p>
        </p:txBody>
      </p:sp>
      <p:sp>
        <p:nvSpPr>
          <p:cNvPr id="18" name="td-4-2">
            <a:extLst xmlns:a="http://schemas.openxmlformats.org/drawingml/2006/main">
              <a:ext uri="{FF2B5EF4-FFF2-40B4-BE49-F238E27FC236}">
                <a16:creationId xmlns:a16="http://schemas.microsoft.com/office/drawing/2014/main" id="{8FD742C6-C9B6-4D03-B330-7B1FB68F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242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正常工况 + IE420</a:t>
            </a:r>
          </a:p>
        </p:txBody>
      </p:sp>
      <p:sp>
        <p:nvSpPr>
          <p:cNvPr id="19" name="dot-0">
            <a:extLst xmlns:a="http://schemas.openxmlformats.org/drawingml/2006/main">
              <a:ext uri="{FF2B5EF4-FFF2-40B4-BE49-F238E27FC236}">
                <a16:creationId xmlns:a16="http://schemas.microsoft.com/office/drawing/2014/main" id="{C48478B4-9A54-4F8A-ADCA-DA913F9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•</a:t>
            </a:r>
          </a:p>
        </p:txBody>
      </p:sp>
      <p:sp>
        <p:nvSpPr>
          <p:cNvPr id="2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7914EE5-CB80-4017-9F26-DE7B736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6915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I 类：正向入流扰动，模拟外来水进入管网。</a:t>
            </a:r>
          </a:p>
        </p:txBody>
      </p:sp>
      <p:sp>
        <p:nvSpPr>
          <p:cNvPr id="21" name="dot-1">
            <a:extLst xmlns:a="http://schemas.openxmlformats.org/drawingml/2006/main">
              <a:ext uri="{FF2B5EF4-FFF2-40B4-BE49-F238E27FC236}">
                <a16:creationId xmlns:a16="http://schemas.microsoft.com/office/drawing/2014/main" id="{AB4A6568-30BC-487A-848B-E9006D7D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•</a:t>
            </a:r>
          </a:p>
        </p:txBody>
      </p:sp>
      <p:sp>
        <p:nvSpPr>
          <p:cNvPr id="2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D6B25D0-25DB-4D30-821E-056341D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6915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E 类：负向流量扰动，模拟管网水量向外损失。</a:t>
            </a:r>
          </a:p>
        </p:txBody>
      </p:sp>
      <p:sp>
        <p:nvSpPr>
          <p:cNvPr id="23" name="dot-2">
            <a:extLst xmlns:a="http://schemas.openxmlformats.org/drawingml/2006/main">
              <a:ext uri="{FF2B5EF4-FFF2-40B4-BE49-F238E27FC236}">
                <a16:creationId xmlns:a16="http://schemas.microsoft.com/office/drawing/2014/main" id="{4B0BDFC1-695C-4B4C-88FB-19857CD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•</a:t>
            </a:r>
          </a:p>
        </p:txBody>
      </p:sp>
      <p:sp>
        <p:nvSpPr>
          <p:cNvPr id="2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BA89143-5EDA-4E39-8D38-52DB40F3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6915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全网拓扑保留 128 节点，诊断范围限定在 50 个候选缺陷节点。</a:t>
            </a:r>
          </a:p>
        </p:txBody>
      </p:sp>
      <p:sp>
        <p:nvSpPr>
          <p:cNvPr id="25" name="dot-3">
            <a:extLst xmlns:a="http://schemas.openxmlformats.org/drawingml/2006/main">
              <a:ext uri="{FF2B5EF4-FFF2-40B4-BE49-F238E27FC236}">
                <a16:creationId xmlns:a16="http://schemas.microsoft.com/office/drawing/2014/main" id="{725F2A41-8476-4EE0-A4BC-75A0FF1D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•</a:t>
            </a:r>
          </a:p>
        </p:txBody>
      </p:sp>
      <p:sp>
        <p:nvSpPr>
          <p:cNvPr id="2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F724045-3835-4A74-A01D-707C5D4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6915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25 个固定监测节点用于模拟有限传感器观测条件。</a:t>
            </a:r>
          </a:p>
        </p:txBody>
      </p:sp>
      <p:pic>
        <p:nvPicPr>
          <p:cNvPr id="27" name="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6431fe5664789"/>
          <a:stretch xmlns:a="http://schemas.openxmlformats.org/drawingml/2006/main"/>
        </p:blipFill>
        <p:spPr>
          <a:xfrm xmlns:a="http://schemas.openxmlformats.org/drawingml/2006/main">
            <a:off x="8477250" y="2691284"/>
            <a:ext cx="8991600" cy="5898842"/>
          </a:xfrm>
          <a:prstGeom xmlns:a="http://schemas.openxmlformats.org/drawingml/2006/main" prst="rect">
            <a:avLst/>
          </a:prstGeom>
        </p:spPr>
      </p:pic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358DF22F-4109-4304-A44E-F473CD8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486900"/>
            <a:ext cx="899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已有图：IE420 缺陷矩阵分布，可用于说明类型、节点和强度覆盖</a:t>
            </a:r>
          </a:p>
        </p:txBody>
      </p:sp>
    </p:spTree>
    <p:extLst>
      <p:ext uri="{BB962C8B-B14F-4D97-AF65-F5344CB8AC3E}">
        <p14:creationId xmlns:p14="http://schemas.microsoft.com/office/powerpoint/2010/main" val="3741876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2BD321D-4D4D-48A7-B539-A744ECE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1732EDF-EA41-4251-90B5-2A21AC1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BFE"/>
                </a:solidFill>
              </a:defRPr>
            </a:pPr>
            <a:r>
              <a:rPr sz="1650" b="1">
                <a:solidFill>
                  <a:srgbClr val="246BFE"/>
                </a:solidFill>
              </a:rPr>
              <a:t>第三部分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5F2A6D-0922-4B27-B597-72DA83A6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16649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PySWMM 批量仿真与节点时序输出</a:t>
            </a:r>
          </a:p>
        </p:txBody>
      </p:sp>
      <p:pic>
        <p:nvPicPr>
          <p:cNvPr id="4" name="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549627820430e"/>
          <a:stretch xmlns:a="http://schemas.openxmlformats.org/drawingml/2006/main"/>
        </p:blipFill>
        <p:spPr>
          <a:xfrm xmlns:a="http://schemas.openxmlformats.org/drawingml/2006/main">
            <a:off x="819150" y="4199779"/>
            <a:ext cx="9486900" cy="2881851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905A28BA-E4FA-4E1F-884B-C49B6CDE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86900"/>
            <a:ext cx="948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已有图：自动化仿真流程</a:t>
            </a:r>
          </a:p>
        </p:txBody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1571EE78-E580-4690-A882-E223B5DA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8859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7C8"/>
                </a:solidFill>
              </a:defRPr>
            </a:pPr>
            <a:r>
              <a:rPr sz="1950" b="1">
                <a:solidFill>
                  <a:srgbClr val="00A7C8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45B2F55-2F00-467A-AD8D-1A6B5677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643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读取 baseline INP 与 IE420 缺陷矩阵。</a:t>
            </a:r>
          </a:p>
        </p:txBody>
      </p:sp>
      <p:sp>
        <p:nvSpPr>
          <p:cNvPr id="8" name="dot-1">
            <a:extLst xmlns:a="http://schemas.openxmlformats.org/drawingml/2006/main">
              <a:ext uri="{FF2B5EF4-FFF2-40B4-BE49-F238E27FC236}">
                <a16:creationId xmlns:a16="http://schemas.microsoft.com/office/drawing/2014/main" id="{BCB6B2DA-A0B5-4840-A59D-503F13E1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6220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7C8"/>
                </a:solidFill>
              </a:defRPr>
            </a:pPr>
            <a:r>
              <a:rPr sz="1950" b="1">
                <a:solidFill>
                  <a:srgbClr val="00A7C8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D39B0C1-00DC-4077-96C8-1975CAFD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62200"/>
            <a:ext cx="643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逐场景启动 PySWMM 仿真。</a:t>
            </a:r>
          </a:p>
        </p:txBody>
      </p:sp>
      <p:sp>
        <p:nvSpPr>
          <p:cNvPr id="10" name="dot-2">
            <a:extLst xmlns:a="http://schemas.openxmlformats.org/drawingml/2006/main">
              <a:ext uri="{FF2B5EF4-FFF2-40B4-BE49-F238E27FC236}">
                <a16:creationId xmlns:a16="http://schemas.microsoft.com/office/drawing/2014/main" id="{2F21BF6D-2D52-4F95-8A0C-0A5C2F19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384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7C8"/>
                </a:solidFill>
              </a:defRPr>
            </a:pPr>
            <a:r>
              <a:rPr sz="1950" b="1">
                <a:solidFill>
                  <a:srgbClr val="00A7C8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F5F9D28-D83B-4457-B0C0-38E7743A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38450"/>
            <a:ext cx="643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依据 start_hour 与 duration_h 控制缺陷活跃期。</a:t>
            </a:r>
          </a:p>
        </p:txBody>
      </p:sp>
      <p:sp>
        <p:nvSpPr>
          <p:cNvPr id="12" name="dot-3">
            <a:extLst xmlns:a="http://schemas.openxmlformats.org/drawingml/2006/main">
              <a:ext uri="{FF2B5EF4-FFF2-40B4-BE49-F238E27FC236}">
                <a16:creationId xmlns:a16="http://schemas.microsoft.com/office/drawing/2014/main" id="{BE4DADBA-35C1-4FBD-9C69-F06D2162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956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7C8"/>
                </a:solidFill>
              </a:defRPr>
            </a:pPr>
            <a:r>
              <a:rPr sz="1950" b="1">
                <a:solidFill>
                  <a:srgbClr val="00A7C8"/>
                </a:solidFill>
              </a:rPr>
              <a:t>•</a:t>
            </a:r>
          </a:p>
        </p:txBody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BEDF393C-4D17-41A6-A111-146BC49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95650"/>
            <a:ext cx="643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通过 generated_inflow(flow) 动态注入 I/E 异常流量。</a:t>
            </a:r>
          </a:p>
        </p:txBody>
      </p:sp>
      <p:sp>
        <p:nvSpPr>
          <p:cNvPr id="14" name="dot-4">
            <a:extLst xmlns:a="http://schemas.openxmlformats.org/drawingml/2006/main">
              <a:ext uri="{FF2B5EF4-FFF2-40B4-BE49-F238E27FC236}">
                <a16:creationId xmlns:a16="http://schemas.microsoft.com/office/drawing/2014/main" id="{3E1ABC32-E5AA-4EC1-880D-08FEA09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7190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A7C8"/>
                </a:solidFill>
              </a:defRPr>
            </a:pPr>
            <a:r>
              <a:rPr sz="1950" b="1">
                <a:solidFill>
                  <a:srgbClr val="00A7C8"/>
                </a:solidFill>
              </a:rPr>
              <a:t>•</a:t>
            </a:r>
          </a:p>
        </p:txBody>
      </p:sp>
      <p:sp>
        <p:nvSpPr>
          <p:cNvPr id="15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B9DBA2A3-EC51-48B2-A4B7-9B3B0299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71900"/>
            <a:ext cx="643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每 10 min 固定采样一次，保证所有场景时间对齐。</a:t>
            </a:r>
          </a:p>
        </p:txBody>
      </p:sp>
      <p:sp>
        <p:nvSpPr>
          <p:cNvPr id="16" name="td-0-0">
            <a:extLst xmlns:a="http://schemas.openxmlformats.org/drawingml/2006/main">
              <a:ext uri="{FF2B5EF4-FFF2-40B4-BE49-F238E27FC236}">
                <a16:creationId xmlns:a16="http://schemas.microsoft.com/office/drawing/2014/main" id="{B89D2CF7-2833-4834-BCDB-67901A84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86250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17" name="td-0-1">
            <a:extLst xmlns:a="http://schemas.openxmlformats.org/drawingml/2006/main">
              <a:ext uri="{FF2B5EF4-FFF2-40B4-BE49-F238E27FC236}">
                <a16:creationId xmlns:a16="http://schemas.microsoft.com/office/drawing/2014/main" id="{35545669-6501-4C0E-AB0C-92D0EC7C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286250"/>
            <a:ext cx="171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数值</a:t>
            </a:r>
          </a:p>
        </p:txBody>
      </p:sp>
      <p:sp>
        <p:nvSpPr>
          <p:cNvPr id="18" name="td-1-0">
            <a:extLst xmlns:a="http://schemas.openxmlformats.org/drawingml/2006/main">
              <a:ext uri="{FF2B5EF4-FFF2-40B4-BE49-F238E27FC236}">
                <a16:creationId xmlns:a16="http://schemas.microsoft.com/office/drawing/2014/main" id="{5A012411-3DB6-4F4B-B544-CBBDAB30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244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全部场景</a:t>
            </a:r>
          </a:p>
        </p:txBody>
      </p:sp>
      <p:sp>
        <p:nvSpPr>
          <p:cNvPr id="19" name="td-1-1">
            <a:extLst xmlns:a="http://schemas.openxmlformats.org/drawingml/2006/main">
              <a:ext uri="{FF2B5EF4-FFF2-40B4-BE49-F238E27FC236}">
                <a16:creationId xmlns:a16="http://schemas.microsoft.com/office/drawing/2014/main" id="{6CBC00B1-7162-4619-9106-45FC7AF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7244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421</a:t>
            </a:r>
          </a:p>
        </p:txBody>
      </p:sp>
      <p:sp>
        <p:nvSpPr>
          <p:cNvPr id="20" name="td-2-0">
            <a:extLst xmlns:a="http://schemas.openxmlformats.org/drawingml/2006/main">
              <a:ext uri="{FF2B5EF4-FFF2-40B4-BE49-F238E27FC236}">
                <a16:creationId xmlns:a16="http://schemas.microsoft.com/office/drawing/2014/main" id="{17227A02-9E06-4ACE-99C4-BC6ED16E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244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每场景时间点</a:t>
            </a:r>
          </a:p>
        </p:txBody>
      </p:sp>
      <p:sp>
        <p:nvSpPr>
          <p:cNvPr id="21" name="td-2-1">
            <a:extLst xmlns:a="http://schemas.openxmlformats.org/drawingml/2006/main">
              <a:ext uri="{FF2B5EF4-FFF2-40B4-BE49-F238E27FC236}">
                <a16:creationId xmlns:a16="http://schemas.microsoft.com/office/drawing/2014/main" id="{49CD2001-BBCA-4414-AE77-2EBACCD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1244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287</a:t>
            </a:r>
          </a:p>
        </p:txBody>
      </p:sp>
      <p:sp>
        <p:nvSpPr>
          <p:cNvPr id="22" name="td-3-0">
            <a:extLst xmlns:a="http://schemas.openxmlformats.org/drawingml/2006/main">
              <a:ext uri="{FF2B5EF4-FFF2-40B4-BE49-F238E27FC236}">
                <a16:creationId xmlns:a16="http://schemas.microsoft.com/office/drawing/2014/main" id="{4F756433-5E7D-49E6-93FF-B7C036C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245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采样间隔</a:t>
            </a:r>
          </a:p>
        </p:txBody>
      </p:sp>
      <p:sp>
        <p:nvSpPr>
          <p:cNvPr id="23" name="td-3-1">
            <a:extLst xmlns:a="http://schemas.openxmlformats.org/drawingml/2006/main">
              <a:ext uri="{FF2B5EF4-FFF2-40B4-BE49-F238E27FC236}">
                <a16:creationId xmlns:a16="http://schemas.microsoft.com/office/drawing/2014/main" id="{B2D99D78-A7A3-461A-A882-C5EDE56D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5245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10 min</a:t>
            </a:r>
          </a:p>
        </p:txBody>
      </p:sp>
      <p:sp>
        <p:nvSpPr>
          <p:cNvPr id="24" name="td-4-0">
            <a:extLst xmlns:a="http://schemas.openxmlformats.org/drawingml/2006/main">
              <a:ext uri="{FF2B5EF4-FFF2-40B4-BE49-F238E27FC236}">
                <a16:creationId xmlns:a16="http://schemas.microsoft.com/office/drawing/2014/main" id="{54A7BD2F-0CB6-468C-AAE3-C3C0C960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9245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每场景记录</a:t>
            </a:r>
          </a:p>
        </p:txBody>
      </p:sp>
      <p:sp>
        <p:nvSpPr>
          <p:cNvPr id="25" name="td-4-1">
            <a:extLst xmlns:a="http://schemas.openxmlformats.org/drawingml/2006/main">
              <a:ext uri="{FF2B5EF4-FFF2-40B4-BE49-F238E27FC236}">
                <a16:creationId xmlns:a16="http://schemas.microsoft.com/office/drawing/2014/main" id="{A981E710-86AC-462C-9862-233CE61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9245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36736</a:t>
            </a:r>
          </a:p>
        </p:txBody>
      </p:sp>
    </p:spTree>
    <p:extLst>
      <p:ext uri="{BB962C8B-B14F-4D97-AF65-F5344CB8AC3E}">
        <p14:creationId xmlns:p14="http://schemas.microsoft.com/office/powerpoint/2010/main" val="11376103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EDE9A3D-9529-4427-A4A7-21076E8E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E07A745-7E3B-4B92-8A54-1C0AA81E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BFE"/>
                </a:solidFill>
              </a:defRPr>
            </a:pPr>
            <a:r>
              <a:rPr sz="1650" b="1">
                <a:solidFill>
                  <a:srgbClr val="246BFE"/>
                </a:solidFill>
              </a:rPr>
              <a:t>第三部分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B87647-DA86-419C-ABC5-74A0BD1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71550"/>
            <a:ext cx="16649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数据特征构建与有效性检查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8060E-2568-4A6E-A520-A92CC12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数据输出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F40171A4-BE7D-4C55-8A39-CB11D28F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0E3FAEF-054F-446A-B191-E57DB98A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保留全网 128 节点原始水力水质时序。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0F4750AB-12E1-41B0-AB4C-91A1DE4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DC1F1BB9-38D4-4C2C-8D3D-FF96279D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在原始时序基础上构造 residual 派生特征。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423592AB-FEB8-4D8A-8A24-A9CAC11F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1B5BB69-A68A-47E8-9F03-FD271F28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核心水力特征：depth、total_outflow。</a:t>
            </a:r>
          </a:p>
        </p:txBody>
      </p:sp>
      <p:sp>
        <p:nvSpPr>
          <p:cNvPr id="11" name="dot-3">
            <a:extLst xmlns:a="http://schemas.openxmlformats.org/drawingml/2006/main">
              <a:ext uri="{FF2B5EF4-FFF2-40B4-BE49-F238E27FC236}">
                <a16:creationId xmlns:a16="http://schemas.microsoft.com/office/drawing/2014/main" id="{F4F92506-8FC3-409C-B890-0A53C0B7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BFE"/>
                </a:solidFill>
              </a:defRPr>
            </a:pPr>
            <a:r>
              <a:rPr sz="1950" b="1">
                <a:solidFill>
                  <a:srgbClr val="246BFE"/>
                </a:solidFill>
              </a:rPr>
              <a:t>•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30BA86C-2D05-445A-BA21-A3EF8768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水质伴随特征：NH4、TSSs。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2CB4C-E61C-4D76-9826-62D0CE8B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检查重点</a:t>
            </a:r>
          </a:p>
        </p:txBody>
      </p:sp>
      <p:sp>
        <p:nvSpPr>
          <p:cNvPr id="14" name="dot-0">
            <a:extLst xmlns:a="http://schemas.openxmlformats.org/drawingml/2006/main">
              <a:ext uri="{FF2B5EF4-FFF2-40B4-BE49-F238E27FC236}">
                <a16:creationId xmlns:a16="http://schemas.microsoft.com/office/drawing/2014/main" id="{04EF4864-502A-44FB-948F-E2B5DCF6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•</a:t>
            </a:r>
          </a:p>
        </p:txBody>
      </p:sp>
      <p:sp>
        <p:nvSpPr>
          <p:cNvPr id="1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FF848609-F2D9-494B-A693-A737A0F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场景完整性、时间步一致性、节点覆盖性。</a:t>
            </a:r>
          </a:p>
        </p:txBody>
      </p:sp>
      <p:sp>
        <p:nvSpPr>
          <p:cNvPr id="16" name="dot-1">
            <a:extLst xmlns:a="http://schemas.openxmlformats.org/drawingml/2006/main">
              <a:ext uri="{FF2B5EF4-FFF2-40B4-BE49-F238E27FC236}">
                <a16:creationId xmlns:a16="http://schemas.microsoft.com/office/drawing/2014/main" id="{6ADA8836-9013-4323-B899-A61EB688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•</a:t>
            </a:r>
          </a:p>
        </p:txBody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36E877D2-C72C-4650-AD57-063F1E6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I/E 缺陷活跃期是否出现可识别扰动。</a:t>
            </a:r>
          </a:p>
        </p:txBody>
      </p:sp>
      <p:sp>
        <p:nvSpPr>
          <p:cNvPr id="18" name="dot-2">
            <a:extLst xmlns:a="http://schemas.openxmlformats.org/drawingml/2006/main">
              <a:ext uri="{FF2B5EF4-FFF2-40B4-BE49-F238E27FC236}">
                <a16:creationId xmlns:a16="http://schemas.microsoft.com/office/drawing/2014/main" id="{D65B0692-4349-4A60-A3EA-B9A5B14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9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A36A"/>
                </a:solidFill>
              </a:defRPr>
            </a:pPr>
            <a:r>
              <a:rPr sz="1950" b="1">
                <a:solidFill>
                  <a:srgbClr val="16A36A"/>
                </a:solidFill>
              </a:rPr>
              <a:t>•</a:t>
            </a:r>
          </a:p>
        </p:txBody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F464FD6-EC7B-41E4-A48A-08210A70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586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</a:defRPr>
            </a:pPr>
            <a:r>
              <a:rPr sz="1725">
                <a:solidFill>
                  <a:srgbClr val="172033"/>
                </a:solidFill>
              </a:rPr>
              <a:t>监测节点与缺陷节点不完全重合，保留诊断难度。</a:t>
            </a:r>
          </a:p>
        </p:txBody>
      </p:sp>
      <p:pic>
        <p:nvPicPr>
          <p:cNvPr id="20" name="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7a14980cb4846"/>
          <a:stretch xmlns:a="http://schemas.openxmlformats.org/drawingml/2006/main"/>
        </p:blipFill>
        <p:spPr>
          <a:xfrm xmlns:a="http://schemas.openxmlformats.org/drawingml/2006/main">
            <a:off x="9727876" y="1893570"/>
            <a:ext cx="5385448" cy="3602355"/>
          </a:xfrm>
          <a:prstGeom xmlns:a="http://schemas.openxmlformats.org/drawingml/2006/main" prst="rect">
            <a:avLst/>
          </a:prstGeom>
        </p:spPr>
      </p:pic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EC7ED094-A320-4D0E-A876-E6AE99B6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00700"/>
            <a:ext cx="1009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已有图：活跃期与非活跃期 residual 能量对比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ab6bfc17547a7"/>
          <a:stretch xmlns:a="http://schemas.openxmlformats.org/drawingml/2006/main"/>
        </p:blipFill>
        <p:spPr>
          <a:xfrm xmlns:a="http://schemas.openxmlformats.org/drawingml/2006/main">
            <a:off x="7372350" y="6283676"/>
            <a:ext cx="4962525" cy="2895533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2e3fed0df4daa"/>
          <a:stretch xmlns:a="http://schemas.openxmlformats.org/drawingml/2006/main"/>
        </p:blipFill>
        <p:spPr>
          <a:xfrm xmlns:a="http://schemas.openxmlformats.org/drawingml/2006/main">
            <a:off x="12506325" y="6283676"/>
            <a:ext cx="4962525" cy="28955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34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2026-05-20T14:00:21.2990000Z</dcterms:created>
  <dcterms:modified xsi:type="dcterms:W3CDTF">2026-05-20T14:00:21.2990000Z</dcterms:modified>
</coreProperties>
</file>